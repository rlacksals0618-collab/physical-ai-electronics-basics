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오늘의 목표: 아두이노·센서·모터 실습 전에 '전기가 무엇인지' 그림으로 감 잡기.</a:t>
            </a:r>
          </a:p>
          <a:p>
            <a:r>
              <a:t>수식은 최소한만. 질문은 언제든 환영한다고 말해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"전기를 본 적 있나요?" 질문으로 시작 — 번개, 정전기 등 학생 경험을 끌어내기.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원자핵/전자 크기 비유: 원자가 축구장이라면 원자핵은 가운데 놓인 구슬 하나.</a:t>
            </a:r>
          </a:p>
          <a:p>
            <a:r>
              <a:t>금속(구리 전선)은 전자가 잘 돌아다녀서 전기가 잘 통한다 → '도체'라는 말은 다음 장에서.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영상은 슬라이드가 열리면 자동 재생된다.</a:t>
            </a:r>
          </a:p>
          <a:p>
            <a:r>
              <a:t>1) 스위치가 열려 있을 때: 전자는 제자리에서 꿈틀거릴 뿐 → 전구 꺼짐</a:t>
            </a:r>
          </a:p>
          <a:p>
            <a:r>
              <a:t>2) 스위치를 닫으면: 전지가 전자를 밀어 한 방향 흐름이 생김 → 전구 켜짐</a:t>
            </a:r>
          </a:p>
          <a:p>
            <a:r>
              <a:t>(심화) 교과서의 '전류 방향'은 전자 이동 방향과 반대로 약속되어 있다 — 2장에서 다룸.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왼쪽(물)과 오른쪽(전기)을 짝지어 읽기. 이 비유는 2장에서 전압=물의 높이(압력),</a:t>
            </a:r>
          </a:p>
          <a:p>
            <a:r>
              <a:t>전류=물의 양, 저항=좁은 파이프로 확장된다.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00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gradFill rotWithShape="1">
            <a:gsLst>
              <a:gs pos="0">
                <a:srgbClr val="13203B">
                  <a:alpha val="92000"/>
                </a:srgbClr>
              </a:gs>
              <a:gs pos="55000">
                <a:srgbClr val="13203B">
                  <a:alpha val="70000"/>
                </a:srgbClr>
              </a:gs>
              <a:gs pos="100000">
                <a:srgbClr val="13203B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청년 피지컬 AI · 비전공자를 위한 하루 특강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6858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전자전기 기초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03320"/>
            <a:ext cx="1097280" cy="73152"/>
          </a:xfrm>
          <a:prstGeom prst="rect">
            <a:avLst/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로봇을 움직이는 전기 이야기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2024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전기란 무엇인가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114800"/>
            <a:ext cx="1097280" cy="73152"/>
          </a:xfrm>
          <a:prstGeom prst="rect">
            <a:avLst/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눈에 보이지 않는 전기를 '그림'으로 이해하기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90304" y="1060704"/>
            <a:ext cx="804672" cy="804672"/>
          </a:xfrm>
          <a:prstGeom prst="roundRect">
            <a:avLst>
              <a:gd name="adj" fmla="val 50000"/>
            </a:avLst>
          </a:prstGeom>
          <a:solidFill>
            <a:srgbClr val="4C9B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91472" y="12618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C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59568" y="193852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4C9B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87584" y="20665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4C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34272" y="4828031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4C9B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80576" y="49743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C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405872" y="4005072"/>
            <a:ext cx="950976" cy="950976"/>
          </a:xfrm>
          <a:prstGeom prst="roundRect">
            <a:avLst>
              <a:gd name="adj" fmla="val 50000"/>
            </a:avLst>
          </a:prstGeom>
          <a:solidFill>
            <a:srgbClr val="4C9B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43616" y="424281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4C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064240" y="9144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C9B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155680" y="1005839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4C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95360" y="5669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C9B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0" y="576072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4C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모든 물질은 '원자'로 되어 있다</a:t>
            </a:r>
          </a:p>
        </p:txBody>
      </p:sp>
      <p:pic>
        <p:nvPicPr>
          <p:cNvPr id="4" name="Picture 3" descr="p01_atom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1364689"/>
            <a:ext cx="7315200" cy="4082902"/>
          </a:xfrm>
          <a:prstGeom prst="roundRect">
            <a:avLst>
              <a:gd name="adj" fmla="val 5000"/>
            </a:avLst>
          </a:prstGeom>
        </p:spPr>
      </p:pic>
      <p:sp>
        <p:nvSpPr>
          <p:cNvPr id="5" name="Rounded Rectangle 4"/>
          <p:cNvSpPr/>
          <p:nvPr/>
        </p:nvSpPr>
        <p:spPr>
          <a:xfrm>
            <a:off x="8183879" y="1325880"/>
            <a:ext cx="3474720" cy="4114800"/>
          </a:xfrm>
          <a:prstGeom prst="roundRect">
            <a:avLst>
              <a:gd name="adj" fmla="val 6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58199" y="18013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19" y="169164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원자핵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19" y="214884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가운데의 무거운 덩어리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거의 움직이지 않아요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199" y="36301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19" y="352044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전자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19" y="397764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바깥을 도는 작은 알갱이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금속에선 자유롭게 움직여요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715000"/>
            <a:ext cx="11094415" cy="731520"/>
          </a:xfrm>
          <a:prstGeom prst="roundRect">
            <a:avLst>
              <a:gd name="adj" fmla="val 18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715000"/>
            <a:ext cx="457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715000"/>
            <a:ext cx="99971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원자 바깥을 도는 아주 작은 알갱이 = 전자(−). 전기의 주인공!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전기 = 전자가 한 방향으로 움직이는 것</a:t>
            </a:r>
          </a:p>
        </p:txBody>
      </p:sp>
      <p:pic>
        <p:nvPicPr>
          <p:cNvPr id="4" name="p01_electron_flow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56967" y="1325880"/>
            <a:ext cx="7477760" cy="4206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715000"/>
            <a:ext cx="11094415" cy="731520"/>
          </a:xfrm>
          <a:prstGeom prst="roundRect">
            <a:avLst>
              <a:gd name="adj" fmla="val 18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715000"/>
            <a:ext cx="457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5715000"/>
            <a:ext cx="99971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스위치를 닫으면 전자가 한 방향으로 흐르고, 그 흐름이 전구를 켠다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8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물로 생각하면 쉽다</a:t>
            </a:r>
          </a:p>
        </p:txBody>
      </p:sp>
      <p:pic>
        <p:nvPicPr>
          <p:cNvPr id="4" name="Picture 3" descr="p01_water_pip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1337619"/>
            <a:ext cx="5364327" cy="2994042"/>
          </a:xfrm>
          <a:prstGeom prst="roundRect">
            <a:avLst>
              <a:gd name="adj" fmla="val 5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548640" y="4434840"/>
            <a:ext cx="53643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물이 흐르는 파이프</a:t>
            </a:r>
          </a:p>
        </p:txBody>
      </p:sp>
      <p:pic>
        <p:nvPicPr>
          <p:cNvPr id="6" name="Picture 5" descr="p01_electron_flow_poster.png"/>
          <p:cNvPicPr>
            <a:picLocks noChangeAspect="1"/>
          </p:cNvPicPr>
          <p:nvPr/>
        </p:nvPicPr>
        <p:blipFill>
          <a:blip r:embed="rId4"/>
          <a:srcRect t="20000"/>
          <a:stretch>
            <a:fillRect/>
          </a:stretch>
        </p:blipFill>
        <p:spPr>
          <a:xfrm>
            <a:off x="6278727" y="1627666"/>
            <a:ext cx="5364327" cy="2413947"/>
          </a:xfrm>
          <a:prstGeom prst="roundRect">
            <a:avLst>
              <a:gd name="adj" fmla="val 5000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6278727" y="4434840"/>
            <a:ext cx="53643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전자가 흐르는 전선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937760"/>
            <a:ext cx="3515258" cy="1371600"/>
          </a:xfrm>
          <a:prstGeom prst="roundRect">
            <a:avLst>
              <a:gd name="adj" fmla="val 12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138928"/>
            <a:ext cx="3515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펌프  =  전지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35152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흐름을 밀어 주는 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4937760"/>
            <a:ext cx="3515258" cy="1371600"/>
          </a:xfrm>
          <a:prstGeom prst="roundRect">
            <a:avLst>
              <a:gd name="adj" fmla="val 12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8218" y="5138928"/>
            <a:ext cx="3515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물  =  전자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8218" y="5760720"/>
            <a:ext cx="35152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실제로 움직이는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4937760"/>
            <a:ext cx="3515258" cy="1371600"/>
          </a:xfrm>
          <a:prstGeom prst="roundRect">
            <a:avLst>
              <a:gd name="adj" fmla="val 12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7796" y="5138928"/>
            <a:ext cx="3515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물레방아  =  전구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5760720"/>
            <a:ext cx="35152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흐름으로 일을 하는 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