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1장에서 다룰 세 단어: 전류, 전압, 저항. 이 셋만 알면 아두이노 회로의 절반은 읽을 수 있다.</a:t>
            </a:r>
          </a:p>
          <a:p>
            <a:r>
              <a:t>(참고 교안 '전자 기초 이론' 1장 구성을 따름)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정의: 도체 속 전자가 에너지를 얻어 이동하는 것 = 전류.</a:t>
            </a:r>
          </a:p>
          <a:p>
            <a:r>
              <a:t>기호 I(Intensity), 단위 A(암페어). 아두이노 LED 하나에 흐르는 전류는 보통 10~20 mA.</a:t>
            </a:r>
          </a:p>
          <a:p>
            <a:r>
              <a:t>전류가 흐르면 생기는 3가지 일: 열(전등·전열기), 자기(전자석·모터 — 로봇의 근육!), 화학(배터리 충전).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정의: 전자를 이동시켜 전류를 흐르게 하는 전기적인 압력. 기호 V, 단위 V(볼트).</a:t>
            </a:r>
          </a:p>
          <a:p>
            <a:r>
              <a:t>교안의 정의 "1 C의 전하가 두 점 사이를 이동하며 1 J의 일을 할 때 = 1 V"는 참고로만 소개.</a:t>
            </a:r>
          </a:p>
          <a:p>
            <a:r>
              <a:t>물 비유: 높은 탱크 → 낮은 탱크로 물이 흐른다. 높이 차 = 전압, 흐르는 물 = 전류.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정의: 전류의 흐름을 방해하는 성분. 기호 R, 단위 Ω(옴).</a:t>
            </a:r>
          </a:p>
          <a:p>
            <a:r>
              <a:t>영상 속 저항의 색띠(빨강·빨강·갈색·금)는 220 Ω — 실습에서 LED 앞에 꼭 다는 저항.</a:t>
            </a:r>
          </a:p>
          <a:p>
            <a:r>
              <a:t>다음 시간: 전압·전류·저항의 관계 = 옴의 법칙 (I = V / 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저항의 크기(고유저항)에 따라 물질을 세 가지로 나눈다.</a:t>
            </a:r>
          </a:p>
          <a:p>
            <a:r>
              <a:t>도체: 약 10⁻⁴ Ω·m 이하 / 절연체: 약 10⁷ Ω·m 이상 / 반도체: 그 사이.</a:t>
            </a:r>
          </a:p>
          <a:p>
            <a:r>
              <a:t>전선 = 구리(도체) 심 + 플라스틱(절연체) 피복. 반도체는 2장(다이오드·트랜지스터)에서 자세히.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2.png"/><Relationship Id="rId6" Type="http://schemas.openxmlformats.org/officeDocument/2006/relationships/image" Target="../media/image3.jpg"/><Relationship Id="rId7" Type="http://schemas.openxmlformats.org/officeDocument/2006/relationships/image" Target="../media/image4.jpg"/><Relationship Id="rId8" Type="http://schemas.openxmlformats.org/officeDocument/2006/relationships/image" Target="../media/image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microsoft.com/office/2007/relationships/media" Target="../media/media2.mp4"/><Relationship Id="rId4" Type="http://schemas.openxmlformats.org/officeDocument/2006/relationships/video" Target="../media/media2.mp4"/><Relationship Id="rId5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0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00_cov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772400" cy="6858000"/>
          </a:xfrm>
          <a:prstGeom prst="rect">
            <a:avLst/>
          </a:prstGeom>
          <a:gradFill rotWithShape="1">
            <a:gsLst>
              <a:gs pos="0">
                <a:srgbClr val="13203B">
                  <a:alpha val="92000"/>
                </a:srgbClr>
              </a:gs>
              <a:gs pos="55000">
                <a:srgbClr val="13203B">
                  <a:alpha val="70000"/>
                </a:srgbClr>
              </a:gs>
              <a:gs pos="100000">
                <a:srgbClr val="13203B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A9B4CB"/>
                </a:solidFill>
                <a:latin typeface="맑은 고딕"/>
                <a:ea typeface="맑은 고딕"/>
                <a:cs typeface="맑은 고딕"/>
              </a:rPr>
              <a:t>청년 피지컬 AI · 비전공자를 위한 그림으로 보는 전자전기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6858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 i="0">
                <a:solidFill>
                  <a:srgbClr val="F4F6FB"/>
                </a:solidFill>
                <a:latin typeface="맑은 고딕"/>
                <a:ea typeface="맑은 고딕"/>
                <a:cs typeface="맑은 고딕"/>
              </a:rPr>
              <a:t>전자 기초 이론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703320"/>
            <a:ext cx="1097280" cy="73152"/>
          </a:xfrm>
          <a:prstGeom prst="rect">
            <a:avLst/>
          </a:prstGeom>
          <a:solidFill>
            <a:srgbClr val="FFC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i="0">
                <a:solidFill>
                  <a:srgbClr val="FFC531"/>
                </a:solidFill>
                <a:latin typeface="맑은 고딕"/>
                <a:ea typeface="맑은 고딕"/>
                <a:cs typeface="맑은 고딕"/>
              </a:rPr>
              <a:t>1장. 전압 · 전류 · 저항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0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566928"/>
          </a:xfrm>
          <a:prstGeom prst="rect">
            <a:avLst/>
          </a:prstGeom>
          <a:solidFill>
            <a:srgbClr val="FFC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10944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4F6FB"/>
                </a:solidFill>
                <a:latin typeface="맑은 고딕"/>
                <a:ea typeface="맑은 고딕"/>
                <a:cs typeface="맑은 고딕"/>
              </a:rPr>
              <a:t>전류 — 전자의 흐름</a:t>
            </a:r>
          </a:p>
        </p:txBody>
      </p:sp>
      <p:pic>
        <p:nvPicPr>
          <p:cNvPr id="4" name="p01_electron_flow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48640" y="1325880"/>
            <a:ext cx="7040880" cy="396049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863840" y="1325880"/>
            <a:ext cx="3779215" cy="3960495"/>
          </a:xfrm>
          <a:prstGeom prst="roundRect">
            <a:avLst>
              <a:gd name="adj" fmla="val 6000"/>
            </a:avLst>
          </a:prstGeom>
          <a:solidFill>
            <a:srgbClr val="1C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146304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0" b="1" i="1">
                <a:solidFill>
                  <a:srgbClr val="FFC531"/>
                </a:solidFill>
                <a:latin typeface="Cambria"/>
                <a:ea typeface="Cambria"/>
                <a:cs typeface="Cambria"/>
              </a:rPr>
              <a:t>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72600" y="1581912"/>
            <a:ext cx="2133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4F6FB"/>
                </a:solidFill>
                <a:latin typeface="맑은 고딕"/>
                <a:ea typeface="맑은 고딕"/>
                <a:cs typeface="맑은 고딕"/>
              </a:rPr>
              <a:t>전류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72600" y="2057400"/>
            <a:ext cx="2133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A9B4CB"/>
                </a:solidFill>
                <a:latin typeface="맑은 고딕"/>
                <a:ea typeface="맑은 고딕"/>
                <a:cs typeface="맑은 고딕"/>
              </a:rPr>
              <a:t>Current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72600" y="2313432"/>
            <a:ext cx="2133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C9BFF"/>
                </a:solidFill>
                <a:latin typeface="맑은 고딕"/>
                <a:ea typeface="맑은 고딕"/>
                <a:cs typeface="맑은 고딕"/>
              </a:rPr>
              <a:t>단위 · A  암페어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2788920"/>
            <a:ext cx="3230575" cy="18288"/>
          </a:xfrm>
          <a:prstGeom prst="rect">
            <a:avLst/>
          </a:prstGeom>
          <a:solidFill>
            <a:srgbClr val="A9B4CB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2971800"/>
            <a:ext cx="32305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A9B4CB"/>
                </a:solidFill>
                <a:latin typeface="맑은 고딕"/>
                <a:ea typeface="맑은 고딕"/>
                <a:cs typeface="맑은 고딕"/>
              </a:rPr>
              <a:t>1 mA = 1/1,000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3355848"/>
            <a:ext cx="32305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A9B4CB"/>
                </a:solidFill>
                <a:latin typeface="맑은 고딕"/>
                <a:ea typeface="맑은 고딕"/>
                <a:cs typeface="맑은 고딕"/>
              </a:rPr>
              <a:t>1 μA = 1/1,000,000 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3840480"/>
            <a:ext cx="54864" cy="1217295"/>
          </a:xfrm>
          <a:prstGeom prst="rect">
            <a:avLst/>
          </a:prstGeom>
          <a:solidFill>
            <a:srgbClr val="FFC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840480"/>
            <a:ext cx="3093415" cy="13087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F4F6FB"/>
                </a:solidFill>
                <a:latin typeface="맑은 고딕"/>
                <a:ea typeface="맑은 고딕"/>
                <a:cs typeface="맑은 고딕"/>
              </a:rPr>
              <a:t>1 A = 1초에 1쿨롬(C)의</a:t>
            </a:r>
          </a:p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F4F6FB"/>
                </a:solidFill>
                <a:latin typeface="맑은 고딕"/>
                <a:ea typeface="맑은 고딕"/>
                <a:cs typeface="맑은 고딕"/>
              </a:rPr>
              <a:t>전하가 지나가는 양</a:t>
            </a:r>
          </a:p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F4F6FB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F4F6FB"/>
                </a:solidFill>
                <a:latin typeface="맑은 고딕"/>
                <a:ea typeface="맑은 고딕"/>
                <a:cs typeface="맑은 고딕"/>
              </a:rPr>
              <a:t>예) LED 1개 ≈ 20 mA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487543"/>
            <a:ext cx="3515258" cy="1051560"/>
          </a:xfrm>
          <a:prstGeom prst="roundRect">
            <a:avLst>
              <a:gd name="adj" fmla="val 14000"/>
            </a:avLst>
          </a:prstGeom>
          <a:solidFill>
            <a:srgbClr val="1C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p01_effect_heat.jp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40080" y="5582350"/>
            <a:ext cx="1544320" cy="861946"/>
          </a:xfrm>
          <a:prstGeom prst="roundRect">
            <a:avLst>
              <a:gd name="adj" fmla="val 5000"/>
            </a:avLst>
          </a:prstGeom>
        </p:spPr>
      </p:pic>
      <p:sp>
        <p:nvSpPr>
          <p:cNvPr id="20" name="TextBox 19"/>
          <p:cNvSpPr txBox="1"/>
          <p:nvPr/>
        </p:nvSpPr>
        <p:spPr>
          <a:xfrm>
            <a:off x="2367280" y="5670423"/>
            <a:ext cx="160517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4F6FB"/>
                </a:solidFill>
                <a:latin typeface="맑은 고딕"/>
                <a:ea typeface="맑은 고딕"/>
                <a:cs typeface="맑은 고딕"/>
              </a:rPr>
              <a:t>열 작용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67280" y="6072759"/>
            <a:ext cx="160517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A9B4CB"/>
                </a:solidFill>
                <a:latin typeface="맑은 고딕"/>
                <a:ea typeface="맑은 고딕"/>
                <a:cs typeface="맑은 고딕"/>
              </a:rPr>
              <a:t>전등 · 전열기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5487543"/>
            <a:ext cx="3515258" cy="1051560"/>
          </a:xfrm>
          <a:prstGeom prst="roundRect">
            <a:avLst>
              <a:gd name="adj" fmla="val 14000"/>
            </a:avLst>
          </a:prstGeom>
          <a:solidFill>
            <a:srgbClr val="1C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p01_effect_magnet.jp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429658" y="5582350"/>
            <a:ext cx="1544320" cy="861946"/>
          </a:xfrm>
          <a:prstGeom prst="roundRect">
            <a:avLst>
              <a:gd name="adj" fmla="val 5000"/>
            </a:avLst>
          </a:prstGeom>
        </p:spPr>
      </p:pic>
      <p:sp>
        <p:nvSpPr>
          <p:cNvPr id="24" name="TextBox 23"/>
          <p:cNvSpPr txBox="1"/>
          <p:nvPr/>
        </p:nvSpPr>
        <p:spPr>
          <a:xfrm>
            <a:off x="6156858" y="5670423"/>
            <a:ext cx="160517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4F6FB"/>
                </a:solidFill>
                <a:latin typeface="맑은 고딕"/>
                <a:ea typeface="맑은 고딕"/>
                <a:cs typeface="맑은 고딕"/>
              </a:rPr>
              <a:t>자기 작용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56858" y="6072759"/>
            <a:ext cx="160517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A9B4CB"/>
                </a:solidFill>
                <a:latin typeface="맑은 고딕"/>
                <a:ea typeface="맑은 고딕"/>
                <a:cs typeface="맑은 고딕"/>
              </a:rPr>
              <a:t>전자석 · 모터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7796" y="5487543"/>
            <a:ext cx="3515258" cy="1051560"/>
          </a:xfrm>
          <a:prstGeom prst="roundRect">
            <a:avLst>
              <a:gd name="adj" fmla="val 14000"/>
            </a:avLst>
          </a:prstGeom>
          <a:solidFill>
            <a:srgbClr val="1C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p01_effect_chem.jp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8219236" y="5582350"/>
            <a:ext cx="1544320" cy="861946"/>
          </a:xfrm>
          <a:prstGeom prst="roundRect">
            <a:avLst>
              <a:gd name="adj" fmla="val 5000"/>
            </a:avLst>
          </a:prstGeom>
        </p:spPr>
      </p:pic>
      <p:sp>
        <p:nvSpPr>
          <p:cNvPr id="28" name="TextBox 27"/>
          <p:cNvSpPr txBox="1"/>
          <p:nvPr/>
        </p:nvSpPr>
        <p:spPr>
          <a:xfrm>
            <a:off x="9946436" y="5670423"/>
            <a:ext cx="160517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4F6FB"/>
                </a:solidFill>
                <a:latin typeface="맑은 고딕"/>
                <a:ea typeface="맑은 고딕"/>
                <a:cs typeface="맑은 고딕"/>
              </a:rPr>
              <a:t>화학 작용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46436" y="6072759"/>
            <a:ext cx="160517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A9B4CB"/>
                </a:solidFill>
                <a:latin typeface="맑은 고딕"/>
                <a:ea typeface="맑은 고딕"/>
                <a:cs typeface="맑은 고딕"/>
              </a:rPr>
              <a:t>충전 · 전기분해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8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0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566928"/>
          </a:xfrm>
          <a:prstGeom prst="rect">
            <a:avLst/>
          </a:prstGeom>
          <a:solidFill>
            <a:srgbClr val="FFC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10944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4F6FB"/>
                </a:solidFill>
                <a:latin typeface="맑은 고딕"/>
                <a:ea typeface="맑은 고딕"/>
                <a:cs typeface="맑은 고딕"/>
              </a:rPr>
              <a:t>전압 — 전자를 밀어주는 힘</a:t>
            </a:r>
          </a:p>
        </p:txBody>
      </p:sp>
      <p:pic>
        <p:nvPicPr>
          <p:cNvPr id="4" name="Picture 3" descr="p01_water_tank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48640" y="1341231"/>
            <a:ext cx="7040880" cy="3929793"/>
          </a:xfrm>
          <a:prstGeom prst="roundRect">
            <a:avLst>
              <a:gd name="adj" fmla="val 5000"/>
            </a:avLst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325880"/>
            <a:ext cx="3779215" cy="3960495"/>
          </a:xfrm>
          <a:prstGeom prst="roundRect">
            <a:avLst>
              <a:gd name="adj" fmla="val 6000"/>
            </a:avLst>
          </a:prstGeom>
          <a:solidFill>
            <a:srgbClr val="1C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92440" y="146304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0" b="1" i="1">
                <a:solidFill>
                  <a:srgbClr val="FFC531"/>
                </a:solidFill>
                <a:latin typeface="Cambria"/>
                <a:ea typeface="Cambria"/>
                <a:cs typeface="Cambria"/>
              </a:rPr>
              <a:t>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1581912"/>
            <a:ext cx="2133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4F6FB"/>
                </a:solidFill>
                <a:latin typeface="맑은 고딕"/>
                <a:ea typeface="맑은 고딕"/>
                <a:cs typeface="맑은 고딕"/>
              </a:rPr>
              <a:t>전압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2057400"/>
            <a:ext cx="2133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A9B4CB"/>
                </a:solidFill>
                <a:latin typeface="맑은 고딕"/>
                <a:ea typeface="맑은 고딕"/>
                <a:cs typeface="맑은 고딕"/>
              </a:rPr>
              <a:t>Voltage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72600" y="2313432"/>
            <a:ext cx="2133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C9BFF"/>
                </a:solidFill>
                <a:latin typeface="맑은 고딕"/>
                <a:ea typeface="맑은 고딕"/>
                <a:cs typeface="맑은 고딕"/>
              </a:rPr>
              <a:t>단위 · V  볼트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2788920"/>
            <a:ext cx="3230575" cy="18288"/>
          </a:xfrm>
          <a:prstGeom prst="rect">
            <a:avLst/>
          </a:prstGeom>
          <a:solidFill>
            <a:srgbClr val="A9B4CB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2971800"/>
            <a:ext cx="32305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A9B4CB"/>
                </a:solidFill>
                <a:latin typeface="맑은 고딕"/>
                <a:ea typeface="맑은 고딕"/>
                <a:cs typeface="맑은 고딕"/>
              </a:rPr>
              <a:t>1 kV = 1,000 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3355848"/>
            <a:ext cx="32305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A9B4CB"/>
                </a:solidFill>
                <a:latin typeface="맑은 고딕"/>
                <a:ea typeface="맑은 고딕"/>
                <a:cs typeface="맑은 고딕"/>
              </a:rPr>
              <a:t>1 mV = 1/1,000 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3840480"/>
            <a:ext cx="54864" cy="1217295"/>
          </a:xfrm>
          <a:prstGeom prst="rect">
            <a:avLst/>
          </a:prstGeom>
          <a:solidFill>
            <a:srgbClr val="FFC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3840480"/>
            <a:ext cx="3093415" cy="13087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F4F6FB"/>
                </a:solidFill>
                <a:latin typeface="맑은 고딕"/>
                <a:ea typeface="맑은 고딕"/>
                <a:cs typeface="맑은 고딕"/>
              </a:rPr>
              <a:t>물탱크 높이 차가 클수록</a:t>
            </a:r>
          </a:p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F4F6FB"/>
                </a:solidFill>
                <a:latin typeface="맑은 고딕"/>
                <a:ea typeface="맑은 고딕"/>
                <a:cs typeface="맑은 고딕"/>
              </a:rPr>
              <a:t>물이 세게 흐르듯,</a:t>
            </a:r>
          </a:p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F4F6FB"/>
                </a:solidFill>
                <a:latin typeface="맑은 고딕"/>
                <a:ea typeface="맑은 고딕"/>
                <a:cs typeface="맑은 고딕"/>
              </a:rPr>
              <a:t>전압이 클수록 전류가 세다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487543"/>
            <a:ext cx="3515258" cy="1051560"/>
          </a:xfrm>
          <a:prstGeom prst="roundRect">
            <a:avLst>
              <a:gd name="adj" fmla="val 14000"/>
            </a:avLst>
          </a:prstGeom>
          <a:solidFill>
            <a:srgbClr val="1C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487543"/>
            <a:ext cx="12801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FFC531"/>
                </a:solidFill>
                <a:latin typeface="맑은 고딕"/>
                <a:ea typeface="맑은 고딕"/>
                <a:cs typeface="맑은 고딕"/>
              </a:rPr>
              <a:t>1.5 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5670423"/>
            <a:ext cx="186933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4F6FB"/>
                </a:solidFill>
                <a:latin typeface="맑은 고딕"/>
                <a:ea typeface="맑은 고딕"/>
                <a:cs typeface="맑은 고딕"/>
              </a:rPr>
              <a:t>건전지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6072759"/>
            <a:ext cx="186933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A9B4CB"/>
                </a:solidFill>
                <a:latin typeface="맑은 고딕"/>
                <a:ea typeface="맑은 고딕"/>
                <a:cs typeface="맑은 고딕"/>
              </a:rPr>
              <a:t>AA · AAA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8218" y="5487543"/>
            <a:ext cx="3515258" cy="1051560"/>
          </a:xfrm>
          <a:prstGeom prst="roundRect">
            <a:avLst>
              <a:gd name="adj" fmla="val 14000"/>
            </a:avLst>
          </a:prstGeom>
          <a:solidFill>
            <a:srgbClr val="1C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29658" y="5487543"/>
            <a:ext cx="12801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FFC531"/>
                </a:solidFill>
                <a:latin typeface="맑은 고딕"/>
                <a:ea typeface="맑은 고딕"/>
                <a:cs typeface="맑은 고딕"/>
              </a:rPr>
              <a:t>5 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2698" y="5670423"/>
            <a:ext cx="186933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4F6FB"/>
                </a:solidFill>
                <a:latin typeface="맑은 고딕"/>
                <a:ea typeface="맑은 고딕"/>
                <a:cs typeface="맑은 고딕"/>
              </a:rPr>
              <a:t>아두이노·USB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2698" y="6072759"/>
            <a:ext cx="186933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A9B4CB"/>
                </a:solidFill>
                <a:latin typeface="맑은 고딕"/>
                <a:ea typeface="맑은 고딕"/>
                <a:cs typeface="맑은 고딕"/>
              </a:rPr>
              <a:t>실습에서 쓰는 전압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27796" y="5487543"/>
            <a:ext cx="3515258" cy="1051560"/>
          </a:xfrm>
          <a:prstGeom prst="roundRect">
            <a:avLst>
              <a:gd name="adj" fmla="val 14000"/>
            </a:avLst>
          </a:prstGeom>
          <a:solidFill>
            <a:srgbClr val="1C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9236" y="5487543"/>
            <a:ext cx="12801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220 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2276" y="5670423"/>
            <a:ext cx="186933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4F6FB"/>
                </a:solidFill>
                <a:latin typeface="맑은 고딕"/>
                <a:ea typeface="맑은 고딕"/>
                <a:cs typeface="맑은 고딕"/>
              </a:rPr>
              <a:t>가정용 콘센트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82276" y="6072759"/>
            <a:ext cx="186933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6B6B"/>
                </a:solidFill>
                <a:latin typeface="맑은 고딕"/>
                <a:ea typeface="맑은 고딕"/>
                <a:cs typeface="맑은 고딕"/>
              </a:rPr>
              <a:t>⚠ 위험! 실습 금지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0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566928"/>
          </a:xfrm>
          <a:prstGeom prst="rect">
            <a:avLst/>
          </a:prstGeom>
          <a:solidFill>
            <a:srgbClr val="FFC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10944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4F6FB"/>
                </a:solidFill>
                <a:latin typeface="맑은 고딕"/>
                <a:ea typeface="맑은 고딕"/>
                <a:cs typeface="맑은 고딕"/>
              </a:rPr>
              <a:t>저항 — 전류를 방해하는 것</a:t>
            </a:r>
          </a:p>
        </p:txBody>
      </p:sp>
      <p:pic>
        <p:nvPicPr>
          <p:cNvPr id="4" name="p01_resistance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48640" y="1325880"/>
            <a:ext cx="7040880" cy="396049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863840" y="1325880"/>
            <a:ext cx="3779215" cy="3960495"/>
          </a:xfrm>
          <a:prstGeom prst="roundRect">
            <a:avLst>
              <a:gd name="adj" fmla="val 6000"/>
            </a:avLst>
          </a:prstGeom>
          <a:solidFill>
            <a:srgbClr val="1C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146304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0" b="1" i="1">
                <a:solidFill>
                  <a:srgbClr val="FFC531"/>
                </a:solidFill>
                <a:latin typeface="Cambria"/>
                <a:ea typeface="Cambria"/>
                <a:cs typeface="Cambria"/>
              </a:rPr>
              <a:t>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72600" y="1581912"/>
            <a:ext cx="2133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4F6FB"/>
                </a:solidFill>
                <a:latin typeface="맑은 고딕"/>
                <a:ea typeface="맑은 고딕"/>
                <a:cs typeface="맑은 고딕"/>
              </a:rPr>
              <a:t>저항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72600" y="2057400"/>
            <a:ext cx="2133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A9B4CB"/>
                </a:solidFill>
                <a:latin typeface="맑은 고딕"/>
                <a:ea typeface="맑은 고딕"/>
                <a:cs typeface="맑은 고딕"/>
              </a:rPr>
              <a:t>Resistance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72600" y="2313432"/>
            <a:ext cx="2133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C9BFF"/>
                </a:solidFill>
                <a:latin typeface="맑은 고딕"/>
                <a:ea typeface="맑은 고딕"/>
                <a:cs typeface="맑은 고딕"/>
              </a:rPr>
              <a:t>단위 · Ω  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2788920"/>
            <a:ext cx="3230575" cy="18288"/>
          </a:xfrm>
          <a:prstGeom prst="rect">
            <a:avLst/>
          </a:prstGeom>
          <a:solidFill>
            <a:srgbClr val="A9B4CB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2971800"/>
            <a:ext cx="32305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A9B4CB"/>
                </a:solidFill>
                <a:latin typeface="맑은 고딕"/>
                <a:ea typeface="맑은 고딕"/>
                <a:cs typeface="맑은 고딕"/>
              </a:rPr>
              <a:t>1 kΩ = 1,000 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3355848"/>
            <a:ext cx="32305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A9B4CB"/>
                </a:solidFill>
                <a:latin typeface="맑은 고딕"/>
                <a:ea typeface="맑은 고딕"/>
                <a:cs typeface="맑은 고딕"/>
              </a:rPr>
              <a:t>1 MΩ = 1,000,000 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3840480"/>
            <a:ext cx="54864" cy="1217295"/>
          </a:xfrm>
          <a:prstGeom prst="rect">
            <a:avLst/>
          </a:prstGeom>
          <a:solidFill>
            <a:srgbClr val="FFC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840480"/>
            <a:ext cx="3093415" cy="13087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F4F6FB"/>
                </a:solidFill>
                <a:latin typeface="맑은 고딕"/>
                <a:ea typeface="맑은 고딕"/>
                <a:cs typeface="맑은 고딕"/>
              </a:rPr>
              <a:t>1 V를 걸었을 때</a:t>
            </a:r>
          </a:p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F4F6FB"/>
                </a:solidFill>
                <a:latin typeface="맑은 고딕"/>
                <a:ea typeface="맑은 고딕"/>
                <a:cs typeface="맑은 고딕"/>
              </a:rPr>
              <a:t>1 A가 흐르면 → 1 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487543"/>
            <a:ext cx="3515258" cy="1051560"/>
          </a:xfrm>
          <a:prstGeom prst="roundRect">
            <a:avLst>
              <a:gd name="adj" fmla="val 14000"/>
            </a:avLst>
          </a:prstGeom>
          <a:solidFill>
            <a:srgbClr val="1C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487543"/>
            <a:ext cx="12801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FFC531"/>
                </a:solidFill>
                <a:latin typeface="맑은 고딕"/>
                <a:ea typeface="맑은 고딕"/>
                <a:cs typeface="맑은 고딕"/>
              </a:rPr>
              <a:t>좁은 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5670423"/>
            <a:ext cx="186933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4F6FB"/>
                </a:solidFill>
                <a:latin typeface="맑은 고딕"/>
                <a:ea typeface="맑은 고딕"/>
                <a:cs typeface="맑은 고딕"/>
              </a:rPr>
              <a:t>저항 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6072759"/>
            <a:ext cx="186933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A9B4CB"/>
                </a:solidFill>
                <a:latin typeface="맑은 고딕"/>
                <a:ea typeface="맑은 고딕"/>
                <a:cs typeface="맑은 고딕"/>
              </a:rPr>
              <a:t>전류가 적게 흐름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5487543"/>
            <a:ext cx="3515258" cy="1051560"/>
          </a:xfrm>
          <a:prstGeom prst="roundRect">
            <a:avLst>
              <a:gd name="adj" fmla="val 14000"/>
            </a:avLst>
          </a:prstGeom>
          <a:solidFill>
            <a:srgbClr val="1C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29658" y="5487543"/>
            <a:ext cx="12801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FFC531"/>
                </a:solidFill>
                <a:latin typeface="맑은 고딕"/>
                <a:ea typeface="맑은 고딕"/>
                <a:cs typeface="맑은 고딕"/>
              </a:rPr>
              <a:t>넓은 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2698" y="5670423"/>
            <a:ext cx="186933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4F6FB"/>
                </a:solidFill>
                <a:latin typeface="맑은 고딕"/>
                <a:ea typeface="맑은 고딕"/>
                <a:cs typeface="맑은 고딕"/>
              </a:rPr>
              <a:t>저항 작음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2698" y="6072759"/>
            <a:ext cx="186933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A9B4CB"/>
                </a:solidFill>
                <a:latin typeface="맑은 고딕"/>
                <a:ea typeface="맑은 고딕"/>
                <a:cs typeface="맑은 고딕"/>
              </a:rPr>
              <a:t>전류가 많이 흐름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7796" y="5487543"/>
            <a:ext cx="3515258" cy="1051560"/>
          </a:xfrm>
          <a:prstGeom prst="roundRect">
            <a:avLst>
              <a:gd name="adj" fmla="val 14000"/>
            </a:avLst>
          </a:prstGeom>
          <a:solidFill>
            <a:srgbClr val="1C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9236" y="5487543"/>
            <a:ext cx="12801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FFC531"/>
                </a:solidFill>
                <a:latin typeface="맑은 고딕"/>
                <a:ea typeface="맑은 고딕"/>
                <a:cs typeface="맑은 고딕"/>
              </a:rPr>
              <a:t>220 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82276" y="5670423"/>
            <a:ext cx="186933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4F6FB"/>
                </a:solidFill>
                <a:latin typeface="맑은 고딕"/>
                <a:ea typeface="맑은 고딕"/>
                <a:cs typeface="맑은 고딕"/>
              </a:rPr>
              <a:t>LED 보호 저항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82276" y="6072759"/>
            <a:ext cx="186933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A9B4CB"/>
                </a:solidFill>
                <a:latin typeface="맑은 고딕"/>
                <a:ea typeface="맑은 고딕"/>
                <a:cs typeface="맑은 고딕"/>
              </a:rPr>
              <a:t>LED 앞에 꼭!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2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0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566928"/>
          </a:xfrm>
          <a:prstGeom prst="rect">
            <a:avLst/>
          </a:prstGeom>
          <a:solidFill>
            <a:srgbClr val="FFC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10944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4F6FB"/>
                </a:solidFill>
                <a:latin typeface="맑은 고딕"/>
                <a:ea typeface="맑은 고딕"/>
                <a:cs typeface="맑은 고딕"/>
              </a:rPr>
              <a:t>전기가 잘 통하는 물질, 안 통하는 물질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3515258" cy="4160520"/>
          </a:xfrm>
          <a:prstGeom prst="roundRect">
            <a:avLst>
              <a:gd name="adj" fmla="val 6000"/>
            </a:avLst>
          </a:prstGeom>
          <a:solidFill>
            <a:srgbClr val="1C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01_conductor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5800" y="1470106"/>
            <a:ext cx="3240938" cy="1808895"/>
          </a:xfrm>
          <a:prstGeom prst="roundRect">
            <a:avLst>
              <a:gd name="adj" fmla="val 5000"/>
            </a:avLst>
          </a:prstGeom>
        </p:spPr>
      </p:pic>
      <p:sp>
        <p:nvSpPr>
          <p:cNvPr id="6" name="TextBox 5"/>
          <p:cNvSpPr txBox="1"/>
          <p:nvPr/>
        </p:nvSpPr>
        <p:spPr>
          <a:xfrm>
            <a:off x="822960" y="3423227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4F6FB"/>
                </a:solidFill>
                <a:latin typeface="맑은 고딕"/>
                <a:ea typeface="맑은 고딕"/>
                <a:cs typeface="맑은 고딕"/>
              </a:rPr>
              <a:t>도체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71867"/>
            <a:ext cx="296661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A9B4CB"/>
                </a:solidFill>
                <a:latin typeface="맑은 고딕"/>
                <a:ea typeface="맑은 고딕"/>
                <a:cs typeface="맑은 고딕"/>
              </a:rPr>
              <a:t>Conductor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37627"/>
            <a:ext cx="29666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C531"/>
                </a:solidFill>
                <a:latin typeface="맑은 고딕"/>
                <a:ea typeface="맑은 고딕"/>
                <a:cs typeface="맑은 고딕"/>
              </a:rPr>
              <a:t>전기가 잘 통한다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49107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A9B4CB"/>
                </a:solidFill>
                <a:latin typeface="맑은 고딕"/>
                <a:ea typeface="맑은 고딕"/>
                <a:cs typeface="맑은 고딕"/>
              </a:rPr>
              <a:t>은 · 구리 · 알루미늄 · 철 · 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325880"/>
            <a:ext cx="3515258" cy="4160520"/>
          </a:xfrm>
          <a:prstGeom prst="roundRect">
            <a:avLst>
              <a:gd name="adj" fmla="val 6000"/>
            </a:avLst>
          </a:prstGeom>
          <a:solidFill>
            <a:srgbClr val="1C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01_semiconductor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475378" y="1470106"/>
            <a:ext cx="3240938" cy="1808895"/>
          </a:xfrm>
          <a:prstGeom prst="roundRect">
            <a:avLst>
              <a:gd name="adj" fmla="val 5000"/>
            </a:avLst>
          </a:prstGeom>
        </p:spPr>
      </p:pic>
      <p:sp>
        <p:nvSpPr>
          <p:cNvPr id="12" name="TextBox 11"/>
          <p:cNvSpPr txBox="1"/>
          <p:nvPr/>
        </p:nvSpPr>
        <p:spPr>
          <a:xfrm>
            <a:off x="4612538" y="3423227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4F6FB"/>
                </a:solidFill>
                <a:latin typeface="맑은 고딕"/>
                <a:ea typeface="맑은 고딕"/>
                <a:cs typeface="맑은 고딕"/>
              </a:rPr>
              <a:t>반도체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2538" y="3971867"/>
            <a:ext cx="296661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A9B4CB"/>
                </a:solidFill>
                <a:latin typeface="맑은 고딕"/>
                <a:ea typeface="맑은 고딕"/>
                <a:cs typeface="맑은 고딕"/>
              </a:rPr>
              <a:t>Semiconductor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2538" y="4337627"/>
            <a:ext cx="29666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C531"/>
                </a:solidFill>
                <a:latin typeface="맑은 고딕"/>
                <a:ea typeface="맑은 고딕"/>
                <a:cs typeface="맑은 고딕"/>
              </a:rPr>
              <a:t>조건에 따라 달라진다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4749107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A9B4CB"/>
                </a:solidFill>
                <a:latin typeface="맑은 고딕"/>
                <a:ea typeface="맑은 고딕"/>
                <a:cs typeface="맑은 고딕"/>
              </a:rPr>
              <a:t>실리콘(Si) · 게르마늄(Ge)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A9B4CB"/>
                </a:solidFill>
                <a:latin typeface="맑은 고딕"/>
                <a:ea typeface="맑은 고딕"/>
                <a:cs typeface="맑은 고딕"/>
              </a:rPr>
              <a:t>→ 반도체 칩 · LED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6" y="1325880"/>
            <a:ext cx="3515258" cy="4160520"/>
          </a:xfrm>
          <a:prstGeom prst="roundRect">
            <a:avLst>
              <a:gd name="adj" fmla="val 6000"/>
            </a:avLst>
          </a:prstGeom>
          <a:solidFill>
            <a:srgbClr val="1C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01_insulator.jp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264956" y="1470106"/>
            <a:ext cx="3240938" cy="1808895"/>
          </a:xfrm>
          <a:prstGeom prst="roundRect">
            <a:avLst>
              <a:gd name="adj" fmla="val 5000"/>
            </a:avLst>
          </a:prstGeom>
        </p:spPr>
      </p:pic>
      <p:sp>
        <p:nvSpPr>
          <p:cNvPr id="18" name="TextBox 17"/>
          <p:cNvSpPr txBox="1"/>
          <p:nvPr/>
        </p:nvSpPr>
        <p:spPr>
          <a:xfrm>
            <a:off x="8402116" y="3423227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4F6FB"/>
                </a:solidFill>
                <a:latin typeface="맑은 고딕"/>
                <a:ea typeface="맑은 고딕"/>
                <a:cs typeface="맑은 고딕"/>
              </a:rPr>
              <a:t>절연체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2116" y="3971867"/>
            <a:ext cx="296661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A9B4CB"/>
                </a:solidFill>
                <a:latin typeface="맑은 고딕"/>
                <a:ea typeface="맑은 고딕"/>
                <a:cs typeface="맑은 고딕"/>
              </a:rPr>
              <a:t>Insulator · 부도체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2116" y="4337627"/>
            <a:ext cx="29666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C531"/>
                </a:solidFill>
                <a:latin typeface="맑은 고딕"/>
                <a:ea typeface="맑은 고딕"/>
                <a:cs typeface="맑은 고딕"/>
              </a:rPr>
              <a:t>전기가 거의 안 통한다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2116" y="4749107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A9B4CB"/>
                </a:solidFill>
                <a:latin typeface="맑은 고딕"/>
                <a:ea typeface="맑은 고딕"/>
                <a:cs typeface="맑은 고딕"/>
              </a:rPr>
              <a:t>고무 · 유리 · 운모 · 플라스틱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806440"/>
            <a:ext cx="11094415" cy="14630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C531"/>
              </a:gs>
              <a:gs pos="100000">
                <a:srgbClr val="1C2C4D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035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C531"/>
                </a:solidFill>
                <a:latin typeface="맑은 고딕"/>
                <a:ea typeface="맑은 고딕"/>
                <a:cs typeface="맑은 고딕"/>
              </a:rPr>
              <a:t>◀ 잘 통한다 (저항 작음)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56655" y="6035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 i="0">
                <a:solidFill>
                  <a:srgbClr val="A9B4CB"/>
                </a:solidFill>
                <a:latin typeface="맑은 고딕"/>
                <a:ea typeface="맑은 고딕"/>
                <a:cs typeface="맑은 고딕"/>
              </a:rPr>
              <a:t>거의 안 통한다 (저항 큼) 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